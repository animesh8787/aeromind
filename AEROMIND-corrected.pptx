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embeddedFontLst>
    <p:embeddedFont>
      <p:font typeface="Roboto Slab"/>
      <p:regular r:id="rId15"/>
      <p:bold r:id="rId16"/>
    </p:embeddedFont>
    <p:embeddedFont>
      <p:font typeface="Robo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Q+sPZNNmW/8wbx8iklep7lTp/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font" Target="fonts/RobotoSlab-regular.fntdata"/><Relationship Id="rId16" Type="http://schemas.openxmlformats.org/officeDocument/2006/relationships/font" Target="fonts/RobotoSlab-bold.fntdata"/><Relationship Id="rId17" Type="http://schemas.openxmlformats.org/officeDocument/2006/relationships/font" Target="fonts/Roboto-regular.fntdata"/><Relationship Id="rId18" Type="http://schemas.openxmlformats.org/officeDocument/2006/relationships/font" Target="fonts/Roboto-bold.fntdata"/><Relationship Id="rId19" Type="http://schemas.openxmlformats.org/officeDocument/2006/relationships/font" Target="fonts/Roboto-italic.fntdata"/><Relationship Id="rId20" Type="http://schemas.openxmlformats.org/officeDocument/2006/relationships/font" Target="fonts/Roboto-boldItalic.fntdata"/><Relationship Id="rId21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8" name="Google Shape;88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DF1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CF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" name="Google Shape;9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9180" y="48444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2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2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jp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3925119" y="532483"/>
            <a:ext cx="4722763" cy="1550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b="0" i="0" lang="en-US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AEROMIND </a:t>
            </a:r>
            <a:r>
              <a:rPr b="0" i="0" lang="en-US" sz="2400" u="none" cap="none" strike="noStrike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— Real-Time Onboard AI for Predictive Aircraft Health &amp; Maintenance Intelligence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925119" y="2638351"/>
            <a:ext cx="4888290" cy="16733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Unique ID:- FY27-605244 </a:t>
            </a:r>
            <a:endParaRPr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Name:- AeroMind </a:t>
            </a:r>
            <a:endParaRPr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Team Leader Name:- Animesh </a:t>
            </a:r>
            <a:endParaRPr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Title:- AeroMind Real-Time Onboard AI for Predictive Air craft Health &amp; Maintenance Intelligence </a:t>
            </a:r>
            <a:endParaRPr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Project Category:- AI at the Edge Solutions for Aerospace</a:t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328071" y="3515767"/>
            <a:ext cx="4195837" cy="39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06320" y="4717057"/>
            <a:ext cx="2537680" cy="3657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"/>
          <p:cNvSpPr/>
          <p:nvPr/>
        </p:nvSpPr>
        <p:spPr>
          <a:xfrm>
            <a:off x="445181" y="173125"/>
            <a:ext cx="8151763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PROBLEM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5181" y="678676"/>
            <a:ext cx="792776" cy="77732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1312662" y="919153"/>
            <a:ext cx="1585283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Maintenance is scheduled or reactive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3023478" y="824768"/>
            <a:ext cx="2246377" cy="568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Critical faults are often discovered post-flight — inspections and scheduled checks miss progressive degradation.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" name="Google Shape;30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4975" y="1944125"/>
            <a:ext cx="792776" cy="777329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"/>
          <p:cNvSpPr/>
          <p:nvPr/>
        </p:nvSpPr>
        <p:spPr>
          <a:xfrm>
            <a:off x="1312664" y="2139322"/>
            <a:ext cx="1497583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Detection happens too late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023479" y="2097120"/>
            <a:ext cx="2246377" cy="42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Late discovery leads to AOG events, passenger disruption, and cascading costs.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" name="Google Shape;33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4975" y="2960677"/>
            <a:ext cx="792776" cy="75627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"/>
          <p:cNvSpPr/>
          <p:nvPr/>
        </p:nvSpPr>
        <p:spPr>
          <a:xfrm>
            <a:off x="1330308" y="3171744"/>
            <a:ext cx="1567637" cy="375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Data volume exceeds connectivity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2972790" y="3144636"/>
            <a:ext cx="2347754" cy="4297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Massive raw sensor streams cannot reliably be transmitted to ground in real time.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474975" y="4116961"/>
            <a:ext cx="4773737" cy="378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Late detection = safety exposure, unplanned downtime, and spiraling repair &amp; logistics costs. Aero operators require edge-native detection that acts in-flight.     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512183" y="660080"/>
            <a:ext cx="3084761" cy="518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3250"/>
              <a:buFont typeface="Roboto Slab"/>
              <a:buNone/>
            </a:pPr>
            <a:r>
              <a:rPr lang="en-US" sz="325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$150K+</a:t>
            </a:r>
            <a:endParaRPr sz="3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5567809" y="1294646"/>
            <a:ext cx="3084761" cy="567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Average estimated cost per AOG hour — conservative industry benchmark illustrating urgency and ROI potential for predictive onboard intelligence.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7809" y="2405575"/>
            <a:ext cx="3171825" cy="229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972175" y="4668217"/>
            <a:ext cx="3171825" cy="45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1" name="Google Shape;41;p2"/>
          <p:cNvCxnSpPr/>
          <p:nvPr/>
        </p:nvCxnSpPr>
        <p:spPr>
          <a:xfrm>
            <a:off x="5441844" y="660080"/>
            <a:ext cx="0" cy="4290668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506165" y="226674"/>
            <a:ext cx="8151763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WHY CURRENT SYSTEMS FALL SHORT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348410" y="790649"/>
            <a:ext cx="4000277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Traditional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353173" y="1044031"/>
            <a:ext cx="4000277" cy="4148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914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HUMS &amp; sensors produce massive telemetry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Processing after flight — insights arrive too late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Cloud transmission introduces latency and cost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Static threshold alarms can't learn degradation trends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1440" lvl="0" marL="91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No reliable Remaining Useful Life (RUL) prediction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353173" y="1987138"/>
            <a:ext cx="4000277" cy="2594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Gap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1" name="Google Shape;51;p3"/>
          <p:cNvSpPr/>
          <p:nvPr/>
        </p:nvSpPr>
        <p:spPr>
          <a:xfrm>
            <a:off x="348407" y="2134552"/>
            <a:ext cx="4000279" cy="652758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3"/>
          <p:cNvSpPr/>
          <p:nvPr/>
        </p:nvSpPr>
        <p:spPr>
          <a:xfrm>
            <a:off x="6620026" y="790649"/>
            <a:ext cx="74414" cy="93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 Slab"/>
              <a:buNone/>
            </a:pPr>
            <a:r>
              <a:rPr lang="en-US" sz="5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47630" y="2383251"/>
            <a:ext cx="38572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Latency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Minutes → Hours; critical windows are missed</a:t>
            </a:r>
            <a:endParaRPr sz="900">
              <a:solidFill>
                <a:srgbClr val="15213F"/>
              </a:solidFill>
              <a:latin typeface="Roboto Slab"/>
              <a:ea typeface="Roboto Slab"/>
              <a:cs typeface="Roboto Slab"/>
              <a:sym typeface="Roboto Slab"/>
            </a:endParaRPr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001805" y="3467320"/>
            <a:ext cx="3857253" cy="4502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"/>
              <a:buFont typeface="Calibri"/>
              <a:buNone/>
            </a:pPr>
            <a:r>
              <a:t/>
            </a:r>
            <a:endParaRPr sz="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5" name="Google Shape;55;p3"/>
          <p:cNvSpPr/>
          <p:nvPr/>
        </p:nvSpPr>
        <p:spPr>
          <a:xfrm>
            <a:off x="348409" y="2790531"/>
            <a:ext cx="4000277" cy="710506"/>
          </a:xfrm>
          <a:prstGeom prst="rect">
            <a:avLst/>
          </a:prstGeom>
          <a:noFill/>
          <a:ln>
            <a:noFill/>
          </a:ln>
        </p:spPr>
      </p:sp>
      <p:sp>
        <p:nvSpPr>
          <p:cNvPr id="56" name="Google Shape;56;p3"/>
          <p:cNvSpPr/>
          <p:nvPr/>
        </p:nvSpPr>
        <p:spPr>
          <a:xfrm>
            <a:off x="2463778" y="2824535"/>
            <a:ext cx="74414" cy="93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 Slab"/>
              <a:buNone/>
            </a:pPr>
            <a:r>
              <a:rPr lang="en-US" sz="5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447630" y="3010802"/>
            <a:ext cx="38572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447630" y="3207406"/>
            <a:ext cx="385725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Bandwidth and ground processing drive recurring expense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59" name="Google Shape;59;p3"/>
          <p:cNvSpPr/>
          <p:nvPr/>
        </p:nvSpPr>
        <p:spPr>
          <a:xfrm>
            <a:off x="348410" y="3504258"/>
            <a:ext cx="4000277" cy="63346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3"/>
          <p:cNvSpPr/>
          <p:nvPr/>
        </p:nvSpPr>
        <p:spPr>
          <a:xfrm>
            <a:off x="2463778" y="3377208"/>
            <a:ext cx="74414" cy="93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 Slab"/>
              <a:buNone/>
            </a:pPr>
            <a:r>
              <a:rPr lang="en-US" sz="5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419923" y="3709873"/>
            <a:ext cx="38572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Intelligence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419923" y="3894737"/>
            <a:ext cx="385725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Static rules — no adaptive learning of degradation modes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63" name="Google Shape;63;p3"/>
          <p:cNvSpPr/>
          <p:nvPr/>
        </p:nvSpPr>
        <p:spPr>
          <a:xfrm>
            <a:off x="343641" y="4199236"/>
            <a:ext cx="4000277" cy="63346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"/>
          <p:cNvSpPr/>
          <p:nvPr/>
        </p:nvSpPr>
        <p:spPr>
          <a:xfrm>
            <a:off x="2463778" y="3929881"/>
            <a:ext cx="74414" cy="930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50"/>
              <a:buFont typeface="Roboto Slab"/>
              <a:buNone/>
            </a:pPr>
            <a:r>
              <a:rPr lang="en-US" sz="55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415154" y="4436848"/>
            <a:ext cx="3857253" cy="96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Prediction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19923" y="4635382"/>
            <a:ext cx="3857253" cy="7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00"/>
              <a:buFont typeface="Roboto"/>
              <a:buNone/>
            </a:pPr>
            <a:r>
              <a:rPr lang="en-US" sz="9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Operators lack actionable RUL and fault-confidence metrics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7" name="Google Shape;6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82047" y="790649"/>
            <a:ext cx="4442377" cy="4129408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20799" y="4711268"/>
            <a:ext cx="1623201" cy="3962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3"/>
          <p:cNvCxnSpPr/>
          <p:nvPr/>
        </p:nvCxnSpPr>
        <p:spPr>
          <a:xfrm>
            <a:off x="4443139" y="839093"/>
            <a:ext cx="0" cy="420417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/>
          <p:nvPr/>
        </p:nvSpPr>
        <p:spPr>
          <a:xfrm>
            <a:off x="496119" y="351100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AEROMIND: INTELLIGENCE ONBOARD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6" name="Google Shape;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95" y="1190654"/>
            <a:ext cx="1284534" cy="793849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4"/>
          <p:cNvSpPr/>
          <p:nvPr/>
        </p:nvSpPr>
        <p:spPr>
          <a:xfrm>
            <a:off x="1943176" y="1188720"/>
            <a:ext cx="1700882" cy="387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Edge AI Inference Engine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023048" y="1190653"/>
            <a:ext cx="4624909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Runs continuous, lightweight models directly on aircraft hardware  zero dependency on constant connectivity.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79" name="Google Shape;79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6192" y="2437402"/>
            <a:ext cx="1284537" cy="79385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4"/>
          <p:cNvSpPr/>
          <p:nvPr/>
        </p:nvSpPr>
        <p:spPr>
          <a:xfrm>
            <a:off x="1943101" y="2422623"/>
            <a:ext cx="1700882" cy="7466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Actionable Alerts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Only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4023049" y="2386385"/>
            <a:ext cx="4624909" cy="992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Sends concise, high-confidence advisories to crew and ground: fault type, RUL estimate, maintenance priority, and replacement logistics.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82" name="Google Shape;8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6192" y="3684152"/>
            <a:ext cx="1284534" cy="793848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4"/>
          <p:cNvSpPr/>
          <p:nvPr/>
        </p:nvSpPr>
        <p:spPr>
          <a:xfrm>
            <a:off x="1943176" y="3684152"/>
            <a:ext cx="1700807" cy="4839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Bandwidth </a:t>
            </a:r>
            <a:endParaRPr/>
          </a:p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600"/>
              <a:buFont typeface="Roboto Slab"/>
              <a:buNone/>
            </a:pPr>
            <a:r>
              <a:rPr lang="en-US" sz="16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Efficient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4023049" y="3643685"/>
            <a:ext cx="4624984" cy="7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00"/>
              <a:buFont typeface="Roboto"/>
              <a:buNone/>
            </a:pPr>
            <a:r>
              <a:rPr lang="en-US" sz="14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Transmits structured insights and summaries not raw sensor streams reducing transmission cost and latency.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0799" y="4682473"/>
            <a:ext cx="1623201" cy="396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"/>
          <p:cNvSpPr/>
          <p:nvPr/>
        </p:nvSpPr>
        <p:spPr>
          <a:xfrm>
            <a:off x="2334376" y="221902"/>
            <a:ext cx="4722763" cy="314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HOW IT WORKS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92" name="Google Shape;9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9856" y="641111"/>
            <a:ext cx="4272409" cy="339149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5"/>
          <p:cNvSpPr/>
          <p:nvPr/>
        </p:nvSpPr>
        <p:spPr>
          <a:xfrm>
            <a:off x="2361304" y="2075992"/>
            <a:ext cx="767780" cy="5266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Predictive Maintenance Pipeline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3116600" y="1061160"/>
            <a:ext cx="1142210" cy="17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Vibration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3116600" y="1286657"/>
            <a:ext cx="1142210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Real-time motion data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5"/>
          <p:cNvSpPr/>
          <p:nvPr/>
        </p:nvSpPr>
        <p:spPr>
          <a:xfrm>
            <a:off x="1212755" y="1061160"/>
            <a:ext cx="1142210" cy="17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Electrical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5"/>
          <p:cNvSpPr/>
          <p:nvPr/>
        </p:nvSpPr>
        <p:spPr>
          <a:xfrm>
            <a:off x="1212755" y="1286657"/>
            <a:ext cx="1142210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Voltage &amp; current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1212755" y="3289596"/>
            <a:ext cx="1142210" cy="17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Oil-debris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5"/>
          <p:cNvSpPr/>
          <p:nvPr/>
        </p:nvSpPr>
        <p:spPr>
          <a:xfrm>
            <a:off x="1212755" y="3515092"/>
            <a:ext cx="1142210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Contaminant levels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116600" y="3289596"/>
            <a:ext cx="1142210" cy="17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Pressure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116600" y="3515092"/>
            <a:ext cx="1142210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Fluid and gas pressure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5"/>
          <p:cNvSpPr/>
          <p:nvPr/>
        </p:nvSpPr>
        <p:spPr>
          <a:xfrm>
            <a:off x="3528580" y="2071993"/>
            <a:ext cx="1167178" cy="3511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Temperature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3528580" y="2473049"/>
            <a:ext cx="1167178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Thermal readings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94533" y="2166015"/>
            <a:ext cx="1167178" cy="1755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 Slab"/>
              <a:buNone/>
            </a:pPr>
            <a:r>
              <a:rPr lang="en-US" sz="11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Acoustic sensor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94533" y="2391511"/>
            <a:ext cx="1167178" cy="127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850"/>
              <a:buFont typeface="Roboto"/>
              <a:buNone/>
            </a:pPr>
            <a:r>
              <a:rPr lang="en-US" sz="8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Sound signatures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390927" y="4182994"/>
            <a:ext cx="8609662" cy="676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1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Multi‑modal sensor fusion ingests vibration, temperature, pressure, oil-debris, acoustic and electrical signals. Lightweight, validated models run continuously onboard to detect anomalies, classify faults, and estimate RUL delivering prioritized maintenance advisories and confidence metrics to crew and MRO.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7820" y="754380"/>
            <a:ext cx="3511882" cy="3185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3737" y="4648200"/>
            <a:ext cx="20288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496118" y="111138"/>
            <a:ext cx="8151763" cy="357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TECHNOLOGY STACK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6118" y="774960"/>
            <a:ext cx="1828726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HARDWARE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496118" y="1058999"/>
            <a:ext cx="1970364" cy="9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NVIDIA Jetson Orin / AGX Xavier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FPGA co-processors for DSP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Ruggedized edge appliances, MIL‑grade connectors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8" y="2472849"/>
            <a:ext cx="1828726" cy="109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2608510" y="774960"/>
            <a:ext cx="1828726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AI / ML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2608510" y="1058999"/>
            <a:ext cx="2029672" cy="11287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PyTorch / TensorFlow models (LSTM, transformer-lite)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Autoencoders, Isolation Forests, XGBoost ensembles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Federated learning capability for fleet adaptation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0" name="Google Shape;12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608510" y="2742467"/>
            <a:ext cx="1828726" cy="1383417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6"/>
          <p:cNvSpPr/>
          <p:nvPr/>
        </p:nvSpPr>
        <p:spPr>
          <a:xfrm>
            <a:off x="4720902" y="774960"/>
            <a:ext cx="1828726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DEPLOYMENT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4720902" y="1058999"/>
            <a:ext cx="1828726" cy="130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ONNX / TensorRT optimized inference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Edge-optimized runtimes, real-time preprocessing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OTA model updates, containerized on-device services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3" name="Google Shape;12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20902" y="2655867"/>
            <a:ext cx="1828726" cy="1304552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6"/>
          <p:cNvSpPr/>
          <p:nvPr/>
        </p:nvSpPr>
        <p:spPr>
          <a:xfrm>
            <a:off x="6833294" y="774960"/>
            <a:ext cx="1828726" cy="1786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INTEGRATION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6833294" y="1058999"/>
            <a:ext cx="1965408" cy="9528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ACARS / SWIM compatibility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MRO &amp; OEM system connectors, REST &amp; message brokers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82880" lvl="0" marL="18288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Char char="•"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Privacy-first telemetry alerts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6" name="Google Shape;126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33294" y="2601330"/>
            <a:ext cx="1828726" cy="121912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/>
          <p:nvPr/>
        </p:nvSpPr>
        <p:spPr>
          <a:xfrm>
            <a:off x="562300" y="4252734"/>
            <a:ext cx="8151763" cy="351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Stack optimized for deterministic latency, low SWaP-C, and aviation-grade ruggedization. Federated learning updates improve fleet-wide models while preserving aircraft data sovereignty.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8" name="Google Shape;128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15175" y="4619946"/>
            <a:ext cx="2028825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"/>
          <p:cNvSpPr/>
          <p:nvPr/>
        </p:nvSpPr>
        <p:spPr>
          <a:xfrm>
            <a:off x="419919" y="214049"/>
            <a:ext cx="8151763" cy="2422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IMPACT — KEY BENEFITS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35" name="Google Shape;13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1422" y="962104"/>
            <a:ext cx="2679501" cy="2679501"/>
          </a:xfrm>
          <a:prstGeom prst="rect">
            <a:avLst/>
          </a:prstGeom>
          <a:noFill/>
          <a:ln>
            <a:noFill/>
          </a:ln>
        </p:spPr>
      </p:pic>
      <p:sp>
        <p:nvSpPr>
          <p:cNvPr descr="preencoded.png" id="136" name="Google Shape;136;p7"/>
          <p:cNvSpPr/>
          <p:nvPr/>
        </p:nvSpPr>
        <p:spPr>
          <a:xfrm>
            <a:off x="496119" y="848619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37" name="Google Shape;137;p7"/>
          <p:cNvSpPr/>
          <p:nvPr/>
        </p:nvSpPr>
        <p:spPr>
          <a:xfrm>
            <a:off x="781616" y="832879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Reduce Unplanned AOG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781616" y="1040773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Intervene before catastrophic failure; reduce AOG incidence and passenger disruption.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39" name="Google Shape;139;p7"/>
          <p:cNvSpPr/>
          <p:nvPr/>
        </p:nvSpPr>
        <p:spPr>
          <a:xfrm>
            <a:off x="496119" y="1353273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40" name="Google Shape;140;p7"/>
          <p:cNvSpPr/>
          <p:nvPr/>
        </p:nvSpPr>
        <p:spPr>
          <a:xfrm>
            <a:off x="781616" y="1316794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Lower Maintenance Costs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781616" y="1524688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Shift from schedule-based to condition-based maintenance, optimizing parts and labor spend.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42" name="Google Shape;142;p7"/>
          <p:cNvSpPr/>
          <p:nvPr/>
        </p:nvSpPr>
        <p:spPr>
          <a:xfrm>
            <a:off x="496119" y="1849004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43" name="Google Shape;143;p7"/>
          <p:cNvSpPr/>
          <p:nvPr/>
        </p:nvSpPr>
        <p:spPr>
          <a:xfrm>
            <a:off x="781616" y="1824819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Earlier Detection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781616" y="2002636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Detect subtle degradation weeks or cycles before threshold alarms would trigger.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45" name="Google Shape;145;p7"/>
          <p:cNvSpPr/>
          <p:nvPr/>
        </p:nvSpPr>
        <p:spPr>
          <a:xfrm>
            <a:off x="496119" y="2355079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46" name="Google Shape;146;p7"/>
          <p:cNvSpPr/>
          <p:nvPr/>
        </p:nvSpPr>
        <p:spPr>
          <a:xfrm>
            <a:off x="781616" y="2330433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Reduce Data Transmission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81616" y="2515357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Transmit structured, compressed advisories — lower bandwidth and cloud processing costs.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48" name="Google Shape;148;p7"/>
          <p:cNvSpPr/>
          <p:nvPr/>
        </p:nvSpPr>
        <p:spPr>
          <a:xfrm>
            <a:off x="496119" y="2865411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49" name="Google Shape;149;p7"/>
          <p:cNvSpPr/>
          <p:nvPr/>
        </p:nvSpPr>
        <p:spPr>
          <a:xfrm>
            <a:off x="781616" y="2838808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Improve Fleet Availability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781616" y="3026142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Higher dispatch reliability through actionable, prioritized maintenance planning.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descr="preencoded.png" id="151" name="Google Shape;151;p7"/>
          <p:cNvSpPr/>
          <p:nvPr/>
        </p:nvSpPr>
        <p:spPr>
          <a:xfrm>
            <a:off x="496119" y="3351796"/>
            <a:ext cx="193774" cy="193774"/>
          </a:xfrm>
          <a:prstGeom prst="rect">
            <a:avLst/>
          </a:prstGeom>
          <a:noFill/>
          <a:ln>
            <a:noFill/>
          </a:ln>
        </p:spPr>
        <p:txBody>
          <a:bodyPr/>
          <a:p/>
        </p:txBody>
      </p:sp>
      <p:sp>
        <p:nvSpPr>
          <p:cNvPr id="152" name="Google Shape;152;p7"/>
          <p:cNvSpPr/>
          <p:nvPr/>
        </p:nvSpPr>
        <p:spPr>
          <a:xfrm>
            <a:off x="781616" y="3325677"/>
            <a:ext cx="4815334" cy="121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Increase Safety &amp; Sustainability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781616" y="3520614"/>
            <a:ext cx="4815334" cy="1007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Proactive fault management reduces risk and optimizes fuel &amp; maintenance lifecycle impact.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419919" y="4057008"/>
            <a:ext cx="8054876" cy="45719"/>
          </a:xfrm>
          <a:prstGeom prst="roundRect">
            <a:avLst>
              <a:gd fmla="val 60000" name="adj"/>
            </a:avLst>
          </a:prstGeom>
          <a:solidFill>
            <a:srgbClr val="15213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496119" y="4197294"/>
            <a:ext cx="8365941" cy="4528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100"/>
              <a:buFont typeface="Roboto"/>
              <a:buNone/>
            </a:pPr>
            <a:r>
              <a:rPr lang="en-US" sz="11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Proof-of-concept results (simulation and NASA C-MAPSS benchmark): RUL error 18–21 cycles vs 50–64 for a naive baseline; ~860x less downlink data. Not yet validated on flight hardware.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43661" y="4699965"/>
            <a:ext cx="1600339" cy="40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"/>
          <p:cNvSpPr/>
          <p:nvPr/>
        </p:nvSpPr>
        <p:spPr>
          <a:xfrm>
            <a:off x="419397" y="197973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WHERE WE ARE NOW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8"/>
          <p:cNvSpPr/>
          <p:nvPr/>
        </p:nvSpPr>
        <p:spPr>
          <a:xfrm>
            <a:off x="509733" y="810200"/>
            <a:ext cx="5089476" cy="117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Status: Proof of Concept Build in Progress. The system architecture and edge model designs are complete; engineering focus is on edge model optimization, sensor integration, and flight-hardware validation. Roadmap targets a flight-ready prototype following bench and ground test cycles.    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 flipH="1" rot="10800000">
            <a:off x="496118" y="3204166"/>
            <a:ext cx="5778995" cy="45719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1134106" y="2866881"/>
            <a:ext cx="45719" cy="377072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1033154" y="3100675"/>
            <a:ext cx="279053" cy="282805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079663" y="3124555"/>
            <a:ext cx="186035" cy="23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1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505570" y="2682147"/>
            <a:ext cx="173608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Concept &amp; Architecture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31252" y="2455149"/>
            <a:ext cx="17360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lang="en-US" sz="9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Complete </a:t>
            </a:r>
            <a:r>
              <a:rPr lang="en-US" sz="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535858" y="3238951"/>
            <a:ext cx="45719" cy="377072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434906" y="3100675"/>
            <a:ext cx="279053" cy="282805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"/>
          <p:cNvSpPr/>
          <p:nvPr/>
        </p:nvSpPr>
        <p:spPr>
          <a:xfrm>
            <a:off x="2481415" y="3124555"/>
            <a:ext cx="186035" cy="23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2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1683311" y="3642517"/>
            <a:ext cx="1844575" cy="22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Edge Model Development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1723906" y="3825768"/>
            <a:ext cx="173615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lang="en-US" sz="9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In Progress </a:t>
            </a:r>
            <a:r>
              <a:rPr lang="en-US" sz="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🔄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3906698" y="2874688"/>
            <a:ext cx="45719" cy="377072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3805746" y="3108482"/>
            <a:ext cx="279053" cy="282805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852255" y="3132362"/>
            <a:ext cx="186035" cy="23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3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2870186" y="2672615"/>
            <a:ext cx="2070013" cy="228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Sensor Integration &amp; Testing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8"/>
          <p:cNvSpPr/>
          <p:nvPr/>
        </p:nvSpPr>
        <p:spPr>
          <a:xfrm>
            <a:off x="3084340" y="2479338"/>
            <a:ext cx="1736154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lang="en-US" sz="9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Next </a:t>
            </a:r>
            <a:r>
              <a:rPr lang="en-US" sz="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⏳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5431868" y="3230436"/>
            <a:ext cx="45719" cy="377072"/>
          </a:xfrm>
          <a:prstGeom prst="roundRect">
            <a:avLst>
              <a:gd fmla="val 130228" name="adj"/>
            </a:avLst>
          </a:prstGeom>
          <a:solidFill>
            <a:srgbClr val="CFD2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5330917" y="3092160"/>
            <a:ext cx="279053" cy="282805"/>
          </a:xfrm>
          <a:prstGeom prst="roundRect">
            <a:avLst>
              <a:gd fmla="val 666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"/>
          <p:cNvSpPr/>
          <p:nvPr/>
        </p:nvSpPr>
        <p:spPr>
          <a:xfrm>
            <a:off x="5377425" y="3116040"/>
            <a:ext cx="186035" cy="2356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450"/>
              <a:buFont typeface="Roboto Slab"/>
              <a:buNone/>
            </a:pPr>
            <a:r>
              <a:rPr lang="en-US" sz="145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4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666499" y="3638852"/>
            <a:ext cx="1736080" cy="1938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 Slab"/>
              <a:buNone/>
            </a:pPr>
            <a:r>
              <a:rPr lang="en-US" sz="12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Flight-Ready Prototype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617959" y="3848253"/>
            <a:ext cx="173608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950"/>
              <a:buFont typeface="Roboto"/>
              <a:buNone/>
            </a:pPr>
            <a:r>
              <a:rPr lang="en-US" sz="9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Future </a:t>
            </a:r>
            <a:r>
              <a:rPr lang="en-US" sz="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⏳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5" name="Google Shape;1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3363" y="774257"/>
            <a:ext cx="2859926" cy="201252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8"/>
          <p:cNvSpPr/>
          <p:nvPr/>
        </p:nvSpPr>
        <p:spPr>
          <a:xfrm>
            <a:off x="5996136" y="3050232"/>
            <a:ext cx="311363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652635" y="3132362"/>
            <a:ext cx="2256887" cy="1044853"/>
          </a:xfrm>
          <a:prstGeom prst="roundRect">
            <a:avLst>
              <a:gd fmla="val 2113" name="adj"/>
            </a:avLst>
          </a:prstGeom>
          <a:solidFill>
            <a:srgbClr val="D7D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8" name="Google Shape;18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74655" y="3257812"/>
            <a:ext cx="155004" cy="123974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8"/>
          <p:cNvSpPr/>
          <p:nvPr/>
        </p:nvSpPr>
        <p:spPr>
          <a:xfrm>
            <a:off x="6971779" y="3204166"/>
            <a:ext cx="1799428" cy="8967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Roboto"/>
              <a:buNone/>
            </a:pPr>
            <a:r>
              <a:rPr lang="en-US" sz="9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Primary focus: hardware-in-the-loop validation and regulatory alignment for airborne deployment.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5414962" y="4482777"/>
            <a:ext cx="311363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Google Shape;191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52952" y="4723864"/>
            <a:ext cx="1600339" cy="40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"/>
          <p:cNvSpPr/>
          <p:nvPr/>
        </p:nvSpPr>
        <p:spPr>
          <a:xfrm>
            <a:off x="414781" y="286931"/>
            <a:ext cx="8151763" cy="3875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400"/>
              <a:buFont typeface="Roboto Slab"/>
              <a:buNone/>
            </a:pPr>
            <a:r>
              <a:rPr lang="en-US" sz="24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WHAT SETS US APART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455450" y="1198834"/>
            <a:ext cx="8151763" cy="2535808"/>
          </a:xfrm>
          <a:prstGeom prst="roundRect">
            <a:avLst>
              <a:gd fmla="val 734" name="adj"/>
            </a:avLst>
          </a:prstGeom>
          <a:noFill/>
          <a:ln cap="flat" cmpd="sng" w="9525">
            <a:solidFill>
              <a:srgbClr val="000000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9"/>
          <p:cNvSpPr/>
          <p:nvPr/>
        </p:nvSpPr>
        <p:spPr>
          <a:xfrm>
            <a:off x="455450" y="1562793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"/>
          <p:cNvSpPr/>
          <p:nvPr/>
        </p:nvSpPr>
        <p:spPr>
          <a:xfrm>
            <a:off x="455450" y="1924371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9"/>
          <p:cNvSpPr/>
          <p:nvPr/>
        </p:nvSpPr>
        <p:spPr>
          <a:xfrm>
            <a:off x="455450" y="2285949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"/>
          <p:cNvSpPr/>
          <p:nvPr/>
        </p:nvSpPr>
        <p:spPr>
          <a:xfrm>
            <a:off x="455450" y="2647527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55450" y="3009104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9"/>
          <p:cNvSpPr/>
          <p:nvPr/>
        </p:nvSpPr>
        <p:spPr>
          <a:xfrm>
            <a:off x="455450" y="3370682"/>
            <a:ext cx="8151763" cy="7753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3147229" y="1198834"/>
            <a:ext cx="7753" cy="253580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9"/>
          <p:cNvSpPr/>
          <p:nvPr/>
        </p:nvSpPr>
        <p:spPr>
          <a:xfrm>
            <a:off x="5834098" y="1198834"/>
            <a:ext cx="7753" cy="2535808"/>
          </a:xfrm>
          <a:prstGeom prst="rect">
            <a:avLst/>
          </a:prstGeom>
          <a:solidFill>
            <a:srgbClr val="000000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460361" y="1203596"/>
            <a:ext cx="268686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9"/>
          <p:cNvSpPr/>
          <p:nvPr/>
        </p:nvSpPr>
        <p:spPr>
          <a:xfrm>
            <a:off x="584335" y="1282773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Capability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3147229" y="1203596"/>
            <a:ext cx="2686869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9"/>
          <p:cNvSpPr/>
          <p:nvPr/>
        </p:nvSpPr>
        <p:spPr>
          <a:xfrm>
            <a:off x="3273585" y="1282773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AeroMind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5834098" y="1203596"/>
            <a:ext cx="2768352" cy="359197"/>
          </a:xfrm>
          <a:prstGeom prst="rect">
            <a:avLst/>
          </a:prstGeom>
          <a:solidFill>
            <a:srgbClr val="3257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9"/>
          <p:cNvSpPr/>
          <p:nvPr/>
        </p:nvSpPr>
        <p:spPr>
          <a:xfrm>
            <a:off x="5960453" y="1282773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-US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Competitors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584335" y="1644351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Onboard Real-Time AI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273585" y="1644351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5960453" y="1644351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Cloud-Centric: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OEM-Only: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584335" y="2005928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Cloud Independence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3273585" y="2005928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960453" y="2005928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584335" y="2367506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Cross-System Coverage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3273585" y="2367506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Roboto"/>
              <a:buNone/>
            </a:pPr>
            <a:r>
              <a:rPr lang="en-US" sz="115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r>
              <a:rPr lang="en-US" sz="115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(engines, gear, structure, avionics)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5960453" y="2367506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584335" y="2729084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Autonomous Fault Classification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3273585" y="2729084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960453" y="2729084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⚠️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84335" y="3090662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Federated Fleet Learning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3273585" y="3090662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5960453" y="3090662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584335" y="3452240"/>
            <a:ext cx="2893740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Hardware-Agnostic &amp; Edge-Native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273585" y="3452240"/>
            <a:ext cx="2891358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✅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5960453" y="3452240"/>
            <a:ext cx="2975223" cy="198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 / </a:t>
            </a:r>
            <a:r>
              <a:rPr lang="en-US" sz="1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❌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501030" y="3629616"/>
            <a:ext cx="8151763" cy="81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2" name="Google Shape;23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43661" y="4678205"/>
            <a:ext cx="1600339" cy="40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8" name="Google Shape;23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10"/>
          <p:cNvSpPr/>
          <p:nvPr/>
        </p:nvSpPr>
        <p:spPr>
          <a:xfrm>
            <a:off x="3904555" y="271481"/>
            <a:ext cx="4722763" cy="6783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2100"/>
              <a:buFont typeface="Roboto Slab"/>
              <a:buNone/>
            </a:pPr>
            <a:r>
              <a:rPr lang="en-US" sz="21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THE FUTURE OF FLIGHT INTELLIGENCE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3904556" y="1090491"/>
            <a:ext cx="4722763" cy="4884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200"/>
              <a:buFont typeface="Roboto"/>
              <a:buNone/>
            </a:pPr>
            <a:r>
              <a:rPr lang="en-US" sz="12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AeroMind brings intelligence onboard — enabling real-time, predictive, autonomous maintenance awareness that improves safety, availability, and operational efficiency. Our vision: fleet-wide adaptive learning, deep MRO integration, and aviation-grade deployment readiness.  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3925119" y="2397955"/>
            <a:ext cx="1510903" cy="1470660"/>
          </a:xfrm>
          <a:prstGeom prst="roundRect">
            <a:avLst>
              <a:gd fmla="val 128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0"/>
          <p:cNvSpPr/>
          <p:nvPr/>
        </p:nvSpPr>
        <p:spPr>
          <a:xfrm>
            <a:off x="4033614" y="2506451"/>
            <a:ext cx="1293912" cy="3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lang="en-US" sz="1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Smarter Fleet Learning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4033614" y="2902408"/>
            <a:ext cx="1293912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Federated updates yield continuous improvement without moving raw data off aircraft.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5530974" y="2397955"/>
            <a:ext cx="1510978" cy="1470660"/>
          </a:xfrm>
          <a:prstGeom prst="roundRect">
            <a:avLst>
              <a:gd fmla="val 128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"/>
          <p:cNvSpPr/>
          <p:nvPr/>
        </p:nvSpPr>
        <p:spPr>
          <a:xfrm>
            <a:off x="5639470" y="2506451"/>
            <a:ext cx="1293986" cy="3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lang="en-US" sz="1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Deeper MRO Integration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639470" y="2902408"/>
            <a:ext cx="1293986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Seamless downstream workflows for parts, labor planning, and turn optimization.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7136904" y="2397955"/>
            <a:ext cx="1510978" cy="1470660"/>
          </a:xfrm>
          <a:prstGeom prst="roundRect">
            <a:avLst>
              <a:gd fmla="val 1288" name="adj"/>
            </a:avLst>
          </a:prstGeom>
          <a:solidFill>
            <a:srgbClr val="E9EC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"/>
          <p:cNvSpPr/>
          <p:nvPr/>
        </p:nvSpPr>
        <p:spPr>
          <a:xfrm>
            <a:off x="7245400" y="2506451"/>
            <a:ext cx="1293986" cy="3390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 Slab"/>
              <a:buNone/>
            </a:pPr>
            <a:r>
              <a:rPr lang="en-US" sz="1000">
                <a:solidFill>
                  <a:srgbClr val="15213F"/>
                </a:solidFill>
                <a:latin typeface="Roboto Slab"/>
                <a:ea typeface="Roboto Slab"/>
                <a:cs typeface="Roboto Slab"/>
                <a:sym typeface="Roboto Slab"/>
              </a:rPr>
              <a:t>Real-World Readiness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7245400" y="2902408"/>
            <a:ext cx="1293986" cy="651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5213F"/>
              </a:buClr>
              <a:buSzPts val="1000"/>
              <a:buFont typeface="Roboto"/>
              <a:buNone/>
            </a:pPr>
            <a:r>
              <a:rPr lang="en-US" sz="1000">
                <a:solidFill>
                  <a:srgbClr val="15213F"/>
                </a:solidFill>
                <a:latin typeface="Roboto"/>
                <a:ea typeface="Roboto"/>
                <a:cs typeface="Roboto"/>
                <a:sym typeface="Roboto"/>
              </a:rPr>
              <a:t>Roadmap: flight-ready models, rugged hardware, regulatory alignment, staged rollout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3925119" y="4077328"/>
            <a:ext cx="4722763" cy="54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3257B8"/>
              </a:buClr>
              <a:buSzPts val="1500"/>
              <a:buFont typeface="Roboto Slab"/>
              <a:buNone/>
            </a:pPr>
            <a:r>
              <a:rPr lang="en-US" sz="1500">
                <a:solidFill>
                  <a:srgbClr val="3257B8"/>
                </a:solidFill>
                <a:latin typeface="Roboto Slab"/>
                <a:ea typeface="Roboto Slab"/>
                <a:cs typeface="Roboto Slab"/>
                <a:sym typeface="Roboto Slab"/>
              </a:rPr>
              <a:t>"From scheduled maintenance to intelligent aviation foresight."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1" name="Google Shape;251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464599" y="4729933"/>
            <a:ext cx="1600339" cy="403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2026-07-20T16:56:43Z</dcterms:created>
  <dc:creator>Animesh .</dc:creator>
</cp:coreProperties>
</file>